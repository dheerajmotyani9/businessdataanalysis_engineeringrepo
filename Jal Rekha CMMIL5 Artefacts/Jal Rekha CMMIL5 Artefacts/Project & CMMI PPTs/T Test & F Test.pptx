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8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080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189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7711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856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02-Feb-26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090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02-Feb-26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952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02-Feb-26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902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02-Feb-26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451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633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504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836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02-Feb-26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7122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2-Sample T-Test &amp; </a:t>
            </a:r>
            <a:br>
              <a:rPr lang="en-US" dirty="0"/>
            </a:br>
            <a:r>
              <a:rPr dirty="0"/>
              <a:t>2-Sample F-Test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sz="2800" dirty="0"/>
              <a:t>Introduction to hypothesis testing</a:t>
            </a:r>
            <a:endParaRPr lang="en-US" sz="2800" dirty="0"/>
          </a:p>
          <a:p>
            <a:pPr>
              <a:buFont typeface="Wingdings" panose="05000000000000000000" pitchFamily="2" charset="2"/>
              <a:buChar char="v"/>
            </a:pPr>
            <a:r>
              <a:rPr sz="2800" dirty="0"/>
              <a:t>2-Sample T-Test (Mean Comparison)</a:t>
            </a:r>
            <a:endParaRPr lang="en-US" sz="2800" dirty="0"/>
          </a:p>
          <a:p>
            <a:pPr>
              <a:buFont typeface="Wingdings" panose="05000000000000000000" pitchFamily="2" charset="2"/>
              <a:buChar char="v"/>
            </a:pPr>
            <a:r>
              <a:rPr sz="2800" dirty="0"/>
              <a:t>2-Sample F-Test (Variance Comparison)</a:t>
            </a:r>
            <a:endParaRPr lang="en-US" sz="2800" dirty="0"/>
          </a:p>
          <a:p>
            <a:pPr>
              <a:buFont typeface="Wingdings" panose="05000000000000000000" pitchFamily="2" charset="2"/>
              <a:buChar char="v"/>
            </a:pPr>
            <a:r>
              <a:rPr sz="2800" dirty="0"/>
              <a:t>Practical usage &amp; interpretation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2-Sample T-Test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sz="2800" dirty="0"/>
              <a:t>Used to compare the means of two independent groups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sz="2800" dirty="0"/>
              <a:t>Determines whether the difference in averages is statistically significant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sz="2800" dirty="0"/>
              <a:t>Commonly used in quality, engineering, and business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F05BC-529D-3057-EE6D-25242A4A2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30E70-1115-5A14-78C3-A71AB3999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2600" b="1" dirty="0"/>
              <a:t>Example : Manual vs Automated Testing</a:t>
            </a:r>
          </a:p>
          <a:p>
            <a:pPr lvl="1"/>
            <a:r>
              <a:rPr lang="en-US" sz="2200" dirty="0"/>
              <a:t>Manual testing: Average test execution time</a:t>
            </a:r>
          </a:p>
          <a:p>
            <a:pPr lvl="1"/>
            <a:r>
              <a:rPr lang="en-US" sz="2200" dirty="0"/>
              <a:t>Automated testing: Average test execution time</a:t>
            </a:r>
          </a:p>
          <a:p>
            <a:pPr lvl="1"/>
            <a:r>
              <a:rPr lang="en-US" sz="2200" dirty="0"/>
              <a:t>Does automation significantly reduce average testing time?</a:t>
            </a:r>
          </a:p>
          <a:p>
            <a:r>
              <a:rPr lang="en-US" sz="2600" b="1" dirty="0"/>
              <a:t>Example : Defect Resolution Time</a:t>
            </a:r>
          </a:p>
          <a:p>
            <a:pPr lvl="1"/>
            <a:r>
              <a:rPr lang="en-US" sz="2200" dirty="0"/>
              <a:t>Group 1: </a:t>
            </a:r>
            <a:r>
              <a:rPr lang="en-US" sz="2200" b="1" dirty="0"/>
              <a:t>Before process improvement</a:t>
            </a:r>
            <a:endParaRPr lang="en-US" sz="2200" dirty="0"/>
          </a:p>
          <a:p>
            <a:pPr lvl="1"/>
            <a:r>
              <a:rPr lang="en-US" sz="2200" dirty="0"/>
              <a:t>Group 2: </a:t>
            </a:r>
            <a:r>
              <a:rPr lang="en-US" sz="2200" b="1" dirty="0"/>
              <a:t>After process improvement</a:t>
            </a:r>
            <a:endParaRPr lang="en-US" sz="2200" dirty="0"/>
          </a:p>
          <a:p>
            <a:pPr lvl="1"/>
            <a:r>
              <a:rPr lang="en-US" sz="2200" b="1" dirty="0"/>
              <a:t>Question:</a:t>
            </a:r>
            <a:endParaRPr lang="en-US" sz="2200" dirty="0"/>
          </a:p>
          <a:p>
            <a:pPr lvl="2"/>
            <a:r>
              <a:rPr lang="en-US" sz="1700" dirty="0"/>
              <a:t>Is the average defect resolution time after improvement significantly lower than before?</a:t>
            </a:r>
          </a:p>
          <a:p>
            <a:r>
              <a:rPr lang="en-US" sz="2600" b="1" dirty="0"/>
              <a:t>Example : Process Cycle Time</a:t>
            </a:r>
          </a:p>
          <a:p>
            <a:pPr lvl="1"/>
            <a:r>
              <a:rPr lang="en-US" sz="2200" dirty="0"/>
              <a:t>Old process</a:t>
            </a:r>
          </a:p>
          <a:p>
            <a:pPr lvl="1"/>
            <a:r>
              <a:rPr lang="en-US" sz="2200" dirty="0"/>
              <a:t>New process</a:t>
            </a:r>
          </a:p>
          <a:p>
            <a:pPr lvl="1"/>
            <a:r>
              <a:rPr lang="en-US" sz="2200" b="1" dirty="0"/>
              <a:t>Question:</a:t>
            </a:r>
            <a:endParaRPr lang="en-US" sz="2200" dirty="0"/>
          </a:p>
          <a:p>
            <a:pPr lvl="2"/>
            <a:r>
              <a:rPr lang="en-US" sz="1700" dirty="0"/>
              <a:t>Has the new process significantly reduced average cycle time?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3603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Hypotheses for 2-Sample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Null Hypothesis (H₀): Mean of Group 1 = Mean of Group 2</a:t>
            </a:r>
          </a:p>
          <a:p>
            <a:endParaRPr sz="2800" dirty="0"/>
          </a:p>
          <a:p>
            <a:r>
              <a:rPr sz="2800" dirty="0"/>
              <a:t>Alternate Hypothesis (H₁): Mean of Group 1 ≠ Mean of Group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Rule –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 p-value ≤ 0.05 → Reject H₀ (Significant difference)</a:t>
            </a:r>
            <a:r>
              <a:rPr lang="en-US" sz="2800" dirty="0"/>
              <a:t>(if “P is low Null must Go”)</a:t>
            </a:r>
            <a:endParaRPr sz="2800" dirty="0"/>
          </a:p>
          <a:p>
            <a:pPr marL="0" indent="0">
              <a:buNone/>
            </a:pPr>
            <a:r>
              <a:rPr sz="2800" dirty="0"/>
              <a:t>p-value &gt; 0.05 → Fail to reject H₀ (No significant difference)</a:t>
            </a:r>
            <a:r>
              <a:rPr lang="en-US" sz="2800" dirty="0"/>
              <a:t> (if “P is high Null Must Fly”)</a:t>
            </a:r>
            <a:endParaRPr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Interpretation –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 dirty="0"/>
              <a:t>Example Interpretation:</a:t>
            </a:r>
          </a:p>
          <a:p>
            <a:r>
              <a:rPr lang="en-US" sz="2800" dirty="0"/>
              <a:t>If P &gt; 0.05 (Null Hypothesis)</a:t>
            </a:r>
          </a:p>
          <a:p>
            <a:r>
              <a:rPr sz="2800" dirty="0"/>
              <a:t>“There is no statistically significant difference between the average values of the two groups.”</a:t>
            </a:r>
            <a:endParaRPr lang="en-US" sz="2800" dirty="0"/>
          </a:p>
          <a:p>
            <a:r>
              <a:rPr lang="en-US" sz="2800" dirty="0"/>
              <a:t>If P&lt;0.05 (alternate Hypothesis)</a:t>
            </a:r>
          </a:p>
          <a:p>
            <a:r>
              <a:rPr lang="en-US" sz="2800" dirty="0"/>
              <a:t>“There is statistically significant difference between the average values of the two groups.”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2-Sample F-Test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sz="2800" dirty="0"/>
              <a:t>Used to compare the variance of two groups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sz="2800" dirty="0"/>
              <a:t>Measures consistency or variability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Hypotheses for 2-Sample F-Test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Null Hypothesis (H₀): Variance of Group 1 = Variance of Group 2</a:t>
            </a:r>
          </a:p>
          <a:p>
            <a:endParaRPr sz="2800" dirty="0"/>
          </a:p>
          <a:p>
            <a:r>
              <a:rPr sz="2800" dirty="0"/>
              <a:t>Alternate Hypothesis (H₁): Variances are not equal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Rule – F-Test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sz="2800" dirty="0"/>
              <a:t>p-value ≤ 0.05 → Reject H₀ (Variances are different)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sz="2800" dirty="0"/>
              <a:t>p-value &gt; 0.05 → Fail to reject H₀ (Variances are equal)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sz="2800" dirty="0"/>
              <a:t>T-Test compares means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sz="2800" dirty="0"/>
              <a:t>F-Test compares variances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sz="2800" dirty="0"/>
              <a:t>p-value helps in statistical decision-making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8F81C-DFB3-0205-12E8-6449D4D42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Minitab Step to perform 2 Sampel T Test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29D2E-1BE3-D2D4-7419-D19D96A96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Go to Stat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Click on Basic statistics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Select “2-Sample t Test”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Select “ Each Sample in its own column from Dropdown”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In sample 1 Select Column 1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In sample 2 Select Column 2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Click ok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429603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24</TotalTime>
  <Words>411</Words>
  <Application>Microsoft Office PowerPoint</Application>
  <PresentationFormat>Widescreen</PresentationFormat>
  <Paragraphs>60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</vt:lpstr>
      <vt:lpstr>Calibri Light</vt:lpstr>
      <vt:lpstr>Wingdings</vt:lpstr>
      <vt:lpstr>Retrospect</vt:lpstr>
      <vt:lpstr>2-Sample T-Test &amp;  2-Sample F-Test</vt:lpstr>
      <vt:lpstr>Agenda</vt:lpstr>
      <vt:lpstr>2-Sample T-Test – Overview</vt:lpstr>
      <vt:lpstr>Examples </vt:lpstr>
      <vt:lpstr>Hypotheses for 2-Sample T-Test</vt:lpstr>
      <vt:lpstr>Decision Rule – T-Test</vt:lpstr>
      <vt:lpstr>Interpretation – T-Test</vt:lpstr>
      <vt:lpstr>2-Sample F-Test – Overview</vt:lpstr>
      <vt:lpstr>Hypotheses for 2-Sample F-Test</vt:lpstr>
      <vt:lpstr>Decision Rule – F-Test</vt:lpstr>
      <vt:lpstr>Summary</vt:lpstr>
      <vt:lpstr>Minitab Step to perform 2 Sampel T Test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Prakash Rajak</cp:lastModifiedBy>
  <cp:revision>5</cp:revision>
  <dcterms:created xsi:type="dcterms:W3CDTF">2013-01-27T09:14:16Z</dcterms:created>
  <dcterms:modified xsi:type="dcterms:W3CDTF">2026-02-02T18:18:46Z</dcterms:modified>
  <cp:category/>
</cp:coreProperties>
</file>