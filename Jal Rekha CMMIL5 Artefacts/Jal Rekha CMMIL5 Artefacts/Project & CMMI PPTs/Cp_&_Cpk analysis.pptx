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58" r:id="rId8"/>
    <p:sldId id="264" r:id="rId9"/>
    <p:sldId id="259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A9F3-72EB-4F15-80C8-7AB945A65CB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087DA-BE24-4B96-AE4E-5FAB8F02EF0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487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A9F3-72EB-4F15-80C8-7AB945A65CB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087DA-BE24-4B96-AE4E-5FAB8F02E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938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A9F3-72EB-4F15-80C8-7AB945A65CB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087DA-BE24-4B96-AE4E-5FAB8F02EF0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935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A9F3-72EB-4F15-80C8-7AB945A65CB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087DA-BE24-4B96-AE4E-5FAB8F02E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003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A9F3-72EB-4F15-80C8-7AB945A65CB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087DA-BE24-4B96-AE4E-5FAB8F02E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69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A9F3-72EB-4F15-80C8-7AB945A65CB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087DA-BE24-4B96-AE4E-5FAB8F02E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669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A9F3-72EB-4F15-80C8-7AB945A65CB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087DA-BE24-4B96-AE4E-5FAB8F02E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61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258A9F3-72EB-4F15-80C8-7AB945A65CB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5087DA-BE24-4B96-AE4E-5FAB8F02E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061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A9F3-72EB-4F15-80C8-7AB945A65CB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087DA-BE24-4B96-AE4E-5FAB8F02E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47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A9F3-72EB-4F15-80C8-7AB945A65CB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087DA-BE24-4B96-AE4E-5FAB8F02E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5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8A9F3-72EB-4F15-80C8-7AB945A65CB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087DA-BE24-4B96-AE4E-5FAB8F02E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627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58A9F3-72EB-4F15-80C8-7AB945A65CB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F5087DA-BE24-4B96-AE4E-5FAB8F02EF0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99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506B8-275F-2A13-C6B3-4586E26B73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Cp &amp; </a:t>
            </a:r>
            <a:r>
              <a:rPr lang="en-US" dirty="0" err="1"/>
              <a:t>Cpk</a:t>
            </a:r>
            <a:r>
              <a:rPr lang="en-US" dirty="0"/>
              <a:t>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7A040-BF6E-BDF2-9856-D5691DBF2C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223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C0747-2478-95D7-CD96-4A6FF59C1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Cp (Process Capability Index)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C0C0C-6A5F-D31F-F88E-A30FD7B9D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 measures the potential capability of your process. </a:t>
            </a:r>
          </a:p>
          <a:p>
            <a:r>
              <a:rPr lang="en-US" dirty="0"/>
              <a:t>It compares the total spread of your process (the "voice of the process") to the total width of the customer's specifications (the "voice of the customer")</a:t>
            </a:r>
          </a:p>
          <a:p>
            <a:r>
              <a:rPr lang="en-US" dirty="0"/>
              <a:t>It shows if your process is </a:t>
            </a:r>
            <a:r>
              <a:rPr lang="en-US" i="1" dirty="0"/>
              <a:t>capable</a:t>
            </a:r>
            <a:r>
              <a:rPr lang="en-US" dirty="0"/>
              <a:t> of fitting within the specification limits </a:t>
            </a:r>
            <a:r>
              <a:rPr lang="en-US" b="1" dirty="0"/>
              <a:t>if it were perfectly centered</a:t>
            </a:r>
            <a:r>
              <a:rPr lang="en-US" dirty="0"/>
              <a:t>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EE8632-A2CB-81FA-2924-E64EC6BFC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612" y="4966139"/>
            <a:ext cx="4261247" cy="95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18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B44AA-3D21-B796-6129-ACB096259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Standard Cp Values (Industry Accepted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B6E059-83F8-D06A-528B-80ED65D70D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5420878"/>
              </p:ext>
            </p:extLst>
          </p:nvPr>
        </p:nvGraphicFramePr>
        <p:xfrm>
          <a:off x="892628" y="2030980"/>
          <a:ext cx="8675913" cy="3851768"/>
        </p:xfrm>
        <a:graphic>
          <a:graphicData uri="http://schemas.openxmlformats.org/drawingml/2006/table">
            <a:tbl>
              <a:tblPr/>
              <a:tblGrid>
                <a:gridCol w="2891971">
                  <a:extLst>
                    <a:ext uri="{9D8B030D-6E8A-4147-A177-3AD203B41FA5}">
                      <a16:colId xmlns:a16="http://schemas.microsoft.com/office/drawing/2014/main" val="3124097588"/>
                    </a:ext>
                  </a:extLst>
                </a:gridCol>
                <a:gridCol w="2891971">
                  <a:extLst>
                    <a:ext uri="{9D8B030D-6E8A-4147-A177-3AD203B41FA5}">
                      <a16:colId xmlns:a16="http://schemas.microsoft.com/office/drawing/2014/main" val="4152987896"/>
                    </a:ext>
                  </a:extLst>
                </a:gridCol>
                <a:gridCol w="2891971">
                  <a:extLst>
                    <a:ext uri="{9D8B030D-6E8A-4147-A177-3AD203B41FA5}">
                      <a16:colId xmlns:a16="http://schemas.microsoft.com/office/drawing/2014/main" val="2407912158"/>
                    </a:ext>
                  </a:extLst>
                </a:gridCol>
              </a:tblGrid>
              <a:tr h="494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Cp Value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Meaning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Interpretation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467968"/>
                  </a:ext>
                </a:extLst>
              </a:tr>
              <a:tr h="864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Cp &lt; 1.00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capable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Process variation exceeds specification limits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8291286"/>
                  </a:ext>
                </a:extLst>
              </a:tr>
              <a:tr h="494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Cp = 1.00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Just capable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margin for variation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008768"/>
                  </a:ext>
                </a:extLst>
              </a:tr>
              <a:tr h="864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Cp ≥ 1.33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Capable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Minimum acceptable industry standard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561907"/>
                  </a:ext>
                </a:extLst>
              </a:tr>
              <a:tr h="494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Cp ≥ 1.67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capable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confidence in meeting specs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172672"/>
                  </a:ext>
                </a:extLst>
              </a:tr>
              <a:tr h="494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Cp ≥ 2.00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World-class capability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739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1632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5F854-FFC2-B741-B19A-4B882B194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794" y="0"/>
            <a:ext cx="10058400" cy="1450757"/>
          </a:xfrm>
        </p:spPr>
        <p:txBody>
          <a:bodyPr/>
          <a:lstStyle/>
          <a:p>
            <a:r>
              <a:rPr lang="en-US" dirty="0"/>
              <a:t>Example &amp; Exercise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72AAE-A824-53A9-62C2-C6CBF5126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8542"/>
            <a:ext cx="10591800" cy="4669971"/>
          </a:xfrm>
        </p:spPr>
        <p:txBody>
          <a:bodyPr>
            <a:normAutofit/>
          </a:bodyPr>
          <a:lstStyle/>
          <a:p>
            <a:r>
              <a:rPr lang="en-US" b="1" dirty="0"/>
              <a:t>Step 1: Specification Limits (What is Allowed)</a:t>
            </a:r>
            <a:endParaRPr lang="en-IN" b="1" dirty="0"/>
          </a:p>
          <a:p>
            <a:r>
              <a:rPr lang="en-US" dirty="0"/>
              <a:t>Assume a software productivity requirement:</a:t>
            </a:r>
            <a:br>
              <a:rPr lang="en-US" dirty="0"/>
            </a:br>
            <a:r>
              <a:rPr lang="en-US" dirty="0"/>
              <a:t>LSL = 0.10</a:t>
            </a:r>
            <a:br>
              <a:rPr lang="en-US" dirty="0"/>
            </a:br>
            <a:r>
              <a:rPr lang="en-US" dirty="0"/>
              <a:t>USL = 0.20</a:t>
            </a:r>
          </a:p>
          <a:p>
            <a:r>
              <a:rPr lang="en-US" dirty="0"/>
              <a:t>Allowed tolerance = USL − LSL = 0.20 − 0.10 = 0.10</a:t>
            </a:r>
          </a:p>
          <a:p>
            <a:r>
              <a:rPr lang="en-US" dirty="0"/>
              <a:t>This represents the acceptable range defined by business or customer requirements</a:t>
            </a:r>
          </a:p>
          <a:p>
            <a:r>
              <a:rPr lang="en-US" b="1" dirty="0"/>
              <a:t>Step 2: Process Variation from Actual Data</a:t>
            </a:r>
            <a:endParaRPr lang="en-IN" b="1" dirty="0"/>
          </a:p>
          <a:p>
            <a:r>
              <a:rPr lang="en-US" dirty="0"/>
              <a:t>From the productivity data:</a:t>
            </a:r>
            <a:br>
              <a:rPr lang="en-US" dirty="0"/>
            </a:br>
            <a:r>
              <a:rPr lang="en-US" dirty="0"/>
              <a:t>Standard Deviation (σ) = 0.0276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Natural process variation = 6σ = 6 × 0.0276 = 0.1656</a:t>
            </a:r>
          </a:p>
          <a:p>
            <a:r>
              <a:rPr lang="en-US" dirty="0"/>
              <a:t>This represents how much the process output naturally fluctuates.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7726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1447-0A29-A015-D97A-21C631248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&amp; Exercise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1F747-58BA-932E-D97B-AD39AB730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3: Compare Process Variation with Specification Limits</a:t>
            </a:r>
            <a:endParaRPr lang="en-IN" b="1" dirty="0"/>
          </a:p>
          <a:p>
            <a:r>
              <a:rPr lang="en-US" dirty="0"/>
              <a:t>Allowed tolerance (USL − LSL) = 0.10</a:t>
            </a:r>
            <a:br>
              <a:rPr lang="en-US" dirty="0"/>
            </a:br>
            <a:r>
              <a:rPr lang="en-US" dirty="0"/>
              <a:t>Process spread (6σ) = 0.1656</a:t>
            </a:r>
          </a:p>
          <a:p>
            <a:r>
              <a:rPr lang="en-US" dirty="0"/>
              <a:t>Since process variation is greater than the allowed tolerance, the process frequently produces values outside the specification limits.</a:t>
            </a:r>
          </a:p>
          <a:p>
            <a:r>
              <a:rPr lang="en-US" b="1" dirty="0"/>
              <a:t>Step 4: Cp Calculation</a:t>
            </a:r>
            <a:endParaRPr lang="en-IN" b="1" dirty="0"/>
          </a:p>
          <a:p>
            <a:r>
              <a:rPr lang="en-US" dirty="0"/>
              <a:t>Cp = (USL − LSL) / 6σ</a:t>
            </a:r>
            <a:br>
              <a:rPr lang="en-US" dirty="0"/>
            </a:br>
            <a:r>
              <a:rPr lang="en-US" dirty="0"/>
              <a:t>Cp = 0.10 / 0.1656 ≈ 0.60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3213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DB5B2-0FF1-E1E8-52F5-E7941ECC4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5: Interpretation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9D9B-18A2-F53E-E5F5-5B92AA8D3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 = 0.60 is less than 1.00, which indicates that the process variation exceeds the specification limits.</a:t>
            </a:r>
          </a:p>
          <a:p>
            <a:r>
              <a:rPr lang="en-US" dirty="0"/>
              <a:t>This means that even if the process average is perfectly centered, the process cannot consistently meet the defined requirements.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7265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9B40B3A-1B76-0120-2740-633F0B27E5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96966"/>
            <a:ext cx="9408473" cy="1261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Cpk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(Process Capability Performance Index)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021FD-8E7E-2A56-0353-E2F6982AF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Cpk</a:t>
            </a:r>
            <a:r>
              <a:rPr lang="en-US" dirty="0"/>
              <a:t> measures the actual capability of your process by accounting for both its spread and its centering. </a:t>
            </a:r>
          </a:p>
          <a:p>
            <a:r>
              <a:rPr lang="en-US" dirty="0"/>
              <a:t>What it tells you: It indicates how close the process mean is to the nearest specification limit.</a:t>
            </a:r>
          </a:p>
          <a:p>
            <a:r>
              <a:rPr lang="en-US" dirty="0"/>
              <a:t>The "k" factor: The "k" stands for a centralizing factor that adjusts the capability index for the process's offset from the target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6BF998-6BEE-33F8-24EE-67AB1C6BC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470" y="4843675"/>
            <a:ext cx="7150733" cy="99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038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C767B-D7E1-B2CD-980D-87F6FF444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latin typeface="Arial" panose="020B0604020202020204" pitchFamily="34" charset="0"/>
              </a:rPr>
              <a:t>Standard </a:t>
            </a:r>
            <a:r>
              <a:rPr lang="en-US" altLang="en-US" b="1" dirty="0" err="1">
                <a:latin typeface="Arial" panose="020B0604020202020204" pitchFamily="34" charset="0"/>
              </a:rPr>
              <a:t>Cpk</a:t>
            </a:r>
            <a:r>
              <a:rPr lang="en-US" altLang="en-US" b="1" dirty="0">
                <a:latin typeface="Arial" panose="020B0604020202020204" pitchFamily="34" charset="0"/>
              </a:rPr>
              <a:t> Values (Industry Accepted)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D9BB399-2224-F116-9E82-7E7631B285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7975622"/>
              </p:ext>
            </p:extLst>
          </p:nvPr>
        </p:nvGraphicFramePr>
        <p:xfrm>
          <a:off x="881742" y="2002972"/>
          <a:ext cx="10232571" cy="3624945"/>
        </p:xfrm>
        <a:graphic>
          <a:graphicData uri="http://schemas.openxmlformats.org/drawingml/2006/table">
            <a:tbl>
              <a:tblPr/>
              <a:tblGrid>
                <a:gridCol w="3410857">
                  <a:extLst>
                    <a:ext uri="{9D8B030D-6E8A-4147-A177-3AD203B41FA5}">
                      <a16:colId xmlns:a16="http://schemas.microsoft.com/office/drawing/2014/main" val="4135103541"/>
                    </a:ext>
                  </a:extLst>
                </a:gridCol>
                <a:gridCol w="3410857">
                  <a:extLst>
                    <a:ext uri="{9D8B030D-6E8A-4147-A177-3AD203B41FA5}">
                      <a16:colId xmlns:a16="http://schemas.microsoft.com/office/drawing/2014/main" val="3814183789"/>
                    </a:ext>
                  </a:extLst>
                </a:gridCol>
                <a:gridCol w="3410857">
                  <a:extLst>
                    <a:ext uri="{9D8B030D-6E8A-4147-A177-3AD203B41FA5}">
                      <a16:colId xmlns:a16="http://schemas.microsoft.com/office/drawing/2014/main" val="4162623738"/>
                    </a:ext>
                  </a:extLst>
                </a:gridCol>
              </a:tblGrid>
              <a:tr h="439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Cpk</a:t>
                      </a:r>
                      <a:r>
                        <a:rPr lang="en-IN" b="1" dirty="0"/>
                        <a:t> Value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Meaning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Interpretation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314124"/>
                  </a:ext>
                </a:extLst>
              </a:tr>
              <a:tr h="768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Cpk &lt; 1.00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capable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Process frequently produces out-of-spec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042890"/>
                  </a:ext>
                </a:extLst>
              </a:tr>
              <a:tr h="768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Cpk = 1.00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Just capable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margin for mean shift or variation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787682"/>
                  </a:ext>
                </a:extLst>
              </a:tr>
              <a:tr h="768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Cpk ≥ 1.33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Capable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Minimum acceptable industry standard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130087"/>
                  </a:ext>
                </a:extLst>
              </a:tr>
              <a:tr h="439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Cpk ≥ 1.67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capable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confidence, low defect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288197"/>
                  </a:ext>
                </a:extLst>
              </a:tr>
              <a:tr h="439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Cpk ≥ 2.00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World-class, near-zero defects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968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567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7C05B-EF64-686F-B6A7-5A18C7C46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E7E7D-CDCC-FF85-693F-F1A12BA22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 defines the potential, </a:t>
            </a:r>
            <a:r>
              <a:rPr lang="en-US" dirty="0" err="1"/>
              <a:t>Cpk</a:t>
            </a:r>
            <a:r>
              <a:rPr lang="en-US" dirty="0"/>
              <a:t> defines the reality. Both are essential for robust quality control.</a:t>
            </a:r>
          </a:p>
          <a:p>
            <a:r>
              <a:rPr lang="en-US" b="1" dirty="0"/>
              <a:t>Case 1: Cp = </a:t>
            </a:r>
            <a:r>
              <a:rPr lang="en-US" b="1" dirty="0" err="1"/>
              <a:t>Cpk</a:t>
            </a:r>
            <a:endParaRPr lang="en-US" b="1" dirty="0"/>
          </a:p>
          <a:p>
            <a:pPr lvl="1"/>
            <a:r>
              <a:rPr lang="en-US" dirty="0"/>
              <a:t>Process is </a:t>
            </a:r>
            <a:r>
              <a:rPr lang="en-US" b="1" dirty="0"/>
              <a:t>perfectly centered</a:t>
            </a:r>
            <a:endParaRPr lang="en-US" dirty="0"/>
          </a:p>
          <a:p>
            <a:pPr lvl="1"/>
            <a:r>
              <a:rPr lang="en-US" dirty="0"/>
              <a:t>No mean shift</a:t>
            </a:r>
          </a:p>
          <a:p>
            <a:r>
              <a:rPr lang="en-US" b="1" dirty="0"/>
              <a:t>Case 2: Cp &gt; </a:t>
            </a:r>
            <a:r>
              <a:rPr lang="en-US" b="1" dirty="0" err="1"/>
              <a:t>Cpk</a:t>
            </a:r>
            <a:endParaRPr lang="en-US" b="1" dirty="0"/>
          </a:p>
          <a:p>
            <a:pPr lvl="1"/>
            <a:r>
              <a:rPr lang="en-US" dirty="0"/>
              <a:t>Process has </a:t>
            </a:r>
            <a:r>
              <a:rPr lang="en-US" b="1" dirty="0"/>
              <a:t>mean shift</a:t>
            </a:r>
            <a:endParaRPr lang="en-US" dirty="0"/>
          </a:p>
          <a:p>
            <a:pPr lvl="1"/>
            <a:r>
              <a:rPr lang="en-US" dirty="0"/>
              <a:t>Variation may still be acceptable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8310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B2EDD-4938-6BE0-F26A-495F255A1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8E6CF-5484-96DB-A13E-81D20C271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USL =.20</a:t>
            </a:r>
          </a:p>
          <a:p>
            <a:r>
              <a:rPr lang="en-US" dirty="0"/>
              <a:t>LSL =.10</a:t>
            </a:r>
          </a:p>
          <a:p>
            <a:r>
              <a:rPr lang="en-US" dirty="0"/>
              <a:t>Mean = USL + LSL / 2</a:t>
            </a:r>
          </a:p>
          <a:p>
            <a:r>
              <a:rPr lang="en-US" dirty="0"/>
              <a:t>Mean =.10+.20/2</a:t>
            </a:r>
          </a:p>
          <a:p>
            <a:r>
              <a:rPr lang="en-US" dirty="0"/>
              <a:t>Mean=.15 </a:t>
            </a:r>
          </a:p>
          <a:p>
            <a:r>
              <a:rPr lang="en-US" dirty="0"/>
              <a:t>Here in this case cp = </a:t>
            </a:r>
            <a:r>
              <a:rPr lang="en-US" dirty="0" err="1"/>
              <a:t>Cpk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02395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</TotalTime>
  <Words>539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Google Sans</vt:lpstr>
      <vt:lpstr>Retrospect</vt:lpstr>
      <vt:lpstr>Cp &amp; Cpk Analysis</vt:lpstr>
      <vt:lpstr>Cp (Process Capability Index)</vt:lpstr>
      <vt:lpstr>Standard Cp Values (Industry Accepted</vt:lpstr>
      <vt:lpstr>Example &amp; Exercise </vt:lpstr>
      <vt:lpstr>Example &amp; Exercise </vt:lpstr>
      <vt:lpstr>Step 5: Interpretation</vt:lpstr>
      <vt:lpstr>Cpk (Process Capability Performance Index)  </vt:lpstr>
      <vt:lpstr>Standard Cpk Values (Industry Accepted)</vt:lpstr>
      <vt:lpstr>PowerPoint Presentation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Prakash Rajak</dc:creator>
  <cp:lastModifiedBy>Prakash Rajak</cp:lastModifiedBy>
  <cp:revision>4</cp:revision>
  <dcterms:created xsi:type="dcterms:W3CDTF">2026-02-02T17:27:25Z</dcterms:created>
  <dcterms:modified xsi:type="dcterms:W3CDTF">2026-02-03T06:28:55Z</dcterms:modified>
</cp:coreProperties>
</file>